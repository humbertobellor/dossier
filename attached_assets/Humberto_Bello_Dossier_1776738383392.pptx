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8"/>
    <p:restoredTop sz="94720"/>
  </p:normalViewPr>
  <p:slideViewPr>
    <p:cSldViewPr snapToGrid="0" snapToObjects="1">
      <p:cViewPr varScale="1">
        <p:scale>
          <a:sx n="144" d="100"/>
          <a:sy n="144" d="100"/>
        </p:scale>
        <p:origin x="2232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94D791-11AF-4555-97FE-B8B746EFFCE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36E89D-670F-4C99-9A37-AE75C4DE68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Scaled engineering teams from 8 → 20 across 3 countries; ran 34 sprints and 3 PI Plannings (EFX). Lead product roadmap and governance partnering with Stakeholders and supporting organizations: Architecture Team, InfoSec, Engineering.</a:t>
          </a:r>
        </a:p>
      </dgm:t>
    </dgm:pt>
    <dgm:pt modelId="{C1EFD924-55DD-4435-A573-2804D144FCE3}" type="parTrans" cxnId="{00801348-6220-460C-AC5F-BBFB4CC208F1}">
      <dgm:prSet/>
      <dgm:spPr/>
      <dgm:t>
        <a:bodyPr/>
        <a:lstStyle/>
        <a:p>
          <a:endParaRPr lang="en-US"/>
        </a:p>
      </dgm:t>
    </dgm:pt>
    <dgm:pt modelId="{BBEF9D74-0601-4691-A5E5-C49357B7E5FE}" type="sibTrans" cxnId="{00801348-6220-460C-AC5F-BBFB4CC208F1}">
      <dgm:prSet/>
      <dgm:spPr/>
      <dgm:t>
        <a:bodyPr/>
        <a:lstStyle/>
        <a:p>
          <a:endParaRPr lang="en-US"/>
        </a:p>
      </dgm:t>
    </dgm:pt>
    <dgm:pt modelId="{CED6B931-D2CD-4491-9C59-583DE0A0DE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Implemented API </a:t>
          </a:r>
          <a:r>
            <a:rPr lang="en-US" sz="1200" dirty="0" err="1"/>
            <a:t>mgmt</a:t>
          </a:r>
          <a:r>
            <a:rPr lang="en-US" sz="1200" dirty="0"/>
            <a:t> and produced security guardrails for microservices controlling surgical devices (K8s, Istio, Apigee, Spring Boot, Kafka).</a:t>
          </a:r>
        </a:p>
      </dgm:t>
    </dgm:pt>
    <dgm:pt modelId="{A50F8EAB-86F5-4DC1-9A94-7E5925D757ED}" type="parTrans" cxnId="{FBB328CB-99F4-48CC-A102-0919805B16A7}">
      <dgm:prSet/>
      <dgm:spPr/>
      <dgm:t>
        <a:bodyPr/>
        <a:lstStyle/>
        <a:p>
          <a:endParaRPr lang="en-US"/>
        </a:p>
      </dgm:t>
    </dgm:pt>
    <dgm:pt modelId="{BD4F4533-08FF-46CA-A748-447CB148C306}" type="sibTrans" cxnId="{FBB328CB-99F4-48CC-A102-0919805B16A7}">
      <dgm:prSet/>
      <dgm:spPr/>
      <dgm:t>
        <a:bodyPr/>
        <a:lstStyle/>
        <a:p>
          <a:endParaRPr lang="en-US"/>
        </a:p>
      </dgm:t>
    </dgm:pt>
    <dgm:pt modelId="{9913F942-D6AD-FA47-A995-DD18966645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Built a RAG engine (LangChain, Python, React, Azure OpenAI, Zilliz) for Leasing Contract Management productivity. Produced a serverless version for AWS (Bedrock, Lambda, Amazon OpenSearch, S3)</a:t>
          </a:r>
        </a:p>
      </dgm:t>
    </dgm:pt>
    <dgm:pt modelId="{F3843EA4-3245-4641-8807-357335E52C08}" type="parTrans" cxnId="{6718F932-4345-E146-89D6-C056BBBFBE17}">
      <dgm:prSet/>
      <dgm:spPr/>
      <dgm:t>
        <a:bodyPr/>
        <a:lstStyle/>
        <a:p>
          <a:endParaRPr lang="en-US"/>
        </a:p>
      </dgm:t>
    </dgm:pt>
    <dgm:pt modelId="{625DD10F-FA3C-D444-9B92-A55C3E519D60}" type="sibTrans" cxnId="{6718F932-4345-E146-89D6-C056BBBFBE17}">
      <dgm:prSet/>
      <dgm:spPr/>
      <dgm:t>
        <a:bodyPr/>
        <a:lstStyle/>
        <a:p>
          <a:endParaRPr lang="en-US"/>
        </a:p>
      </dgm:t>
    </dgm:pt>
    <dgm:pt modelId="{4FA8F26E-79D4-F448-A159-3EB0E613D6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Modernized, re-built and standardized the middleware and portal that handled the Mobile Wireless service provisioning at the largest MVNO in the USA, scaling from $6M Subscriber to $19M and eight (8) different brands.</a:t>
          </a:r>
        </a:p>
      </dgm:t>
    </dgm:pt>
    <dgm:pt modelId="{711F5998-8BBA-3045-9832-9144BFBF4DEE}" type="parTrans" cxnId="{FF582E85-5E8F-BD4C-9690-9AD08E2C7C8A}">
      <dgm:prSet/>
      <dgm:spPr/>
      <dgm:t>
        <a:bodyPr/>
        <a:lstStyle/>
        <a:p>
          <a:endParaRPr lang="en-US"/>
        </a:p>
      </dgm:t>
    </dgm:pt>
    <dgm:pt modelId="{C693521E-302A-5F45-8EC8-24EFFEB8FD5C}" type="sibTrans" cxnId="{FF582E85-5E8F-BD4C-9690-9AD08E2C7C8A}">
      <dgm:prSet/>
      <dgm:spPr/>
      <dgm:t>
        <a:bodyPr/>
        <a:lstStyle/>
        <a:p>
          <a:endParaRPr lang="en-US"/>
        </a:p>
      </dgm:t>
    </dgm:pt>
    <dgm:pt modelId="{5C4DC0C8-9537-A841-8692-11B3513C1C0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kern="1200" dirty="0"/>
            <a:t>FISERV: Provided solution </a:t>
          </a:r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architecture</a:t>
          </a:r>
          <a:r>
            <a:rPr lang="en-US" sz="1200" kern="1200" dirty="0"/>
            <a:t> and design to event processing requirements for a real time payment network, produced integrating with </a:t>
          </a:r>
          <a:r>
            <a:rPr lang="en-US" sz="1200" kern="1200" dirty="0" err="1"/>
            <a:t>OpenBanking</a:t>
          </a:r>
          <a:r>
            <a:rPr lang="en-US" sz="1200" kern="1200" dirty="0"/>
            <a:t> Customer APIs.</a:t>
          </a:r>
        </a:p>
      </dgm:t>
    </dgm:pt>
    <dgm:pt modelId="{16BE03A9-2417-004D-B20C-DE228270623C}" type="sibTrans" cxnId="{1C7213D9-2DC6-FE4C-905D-841889BAE06D}">
      <dgm:prSet/>
      <dgm:spPr/>
      <dgm:t>
        <a:bodyPr/>
        <a:lstStyle/>
        <a:p>
          <a:endParaRPr lang="en-US"/>
        </a:p>
      </dgm:t>
    </dgm:pt>
    <dgm:pt modelId="{C0F397BC-74F6-DE45-9E5D-E3EF9F82E5E7}" type="parTrans" cxnId="{1C7213D9-2DC6-FE4C-905D-841889BAE06D}">
      <dgm:prSet/>
      <dgm:spPr/>
      <dgm:t>
        <a:bodyPr/>
        <a:lstStyle/>
        <a:p>
          <a:endParaRPr lang="en-US"/>
        </a:p>
      </dgm:t>
    </dgm:pt>
    <dgm:pt modelId="{2D17BA6B-EF5A-9349-B448-17370AC9A3E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5th3rd bank: Technical leader, designed &amp; implemented integration and service layer to support personal Banking Mobile Wallet of </a:t>
          </a:r>
          <a:r>
            <a:rPr lang="en-US" sz="1200" b="0" i="0" dirty="0"/>
            <a:t>2.4 million monthly mobile banking users. (AWS + Microservices + Event Streaming)</a:t>
          </a:r>
          <a:endParaRPr lang="en-US" sz="1200" dirty="0"/>
        </a:p>
      </dgm:t>
    </dgm:pt>
    <dgm:pt modelId="{29E53CF5-CB0F-AD46-B52A-8BD63132CA9A}" type="parTrans" cxnId="{D97874C4-4F53-B440-9BBB-64196694D2BE}">
      <dgm:prSet/>
      <dgm:spPr/>
      <dgm:t>
        <a:bodyPr/>
        <a:lstStyle/>
        <a:p>
          <a:endParaRPr lang="en-US"/>
        </a:p>
      </dgm:t>
    </dgm:pt>
    <dgm:pt modelId="{CF43D3C5-CE95-8D49-9D18-4A6F14776485}" type="sibTrans" cxnId="{D97874C4-4F53-B440-9BBB-64196694D2BE}">
      <dgm:prSet/>
      <dgm:spPr/>
      <dgm:t>
        <a:bodyPr/>
        <a:lstStyle/>
        <a:p>
          <a:endParaRPr lang="en-US"/>
        </a:p>
      </dgm:t>
    </dgm:pt>
    <dgm:pt modelId="{9FDD2633-7471-4753-A4B8-6153DBBD426F}" type="pres">
      <dgm:prSet presAssocID="{6594D791-11AF-4555-97FE-B8B746EFFCE8}" presName="root" presStyleCnt="0">
        <dgm:presLayoutVars>
          <dgm:dir/>
          <dgm:resizeHandles val="exact"/>
        </dgm:presLayoutVars>
      </dgm:prSet>
      <dgm:spPr/>
    </dgm:pt>
    <dgm:pt modelId="{794DD177-1E45-4610-BB55-8ED0928010F5}" type="pres">
      <dgm:prSet presAssocID="{4C36E89D-670F-4C99-9A37-AE75C4DE687D}" presName="compNode" presStyleCnt="0"/>
      <dgm:spPr/>
    </dgm:pt>
    <dgm:pt modelId="{CE49B7C8-9C5A-4485-BAA4-7BBCAF726A70}" type="pres">
      <dgm:prSet presAssocID="{4C36E89D-670F-4C99-9A37-AE75C4DE687D}" presName="bgRect" presStyleLbl="bgShp" presStyleIdx="0" presStyleCnt="6"/>
      <dgm:spPr/>
    </dgm:pt>
    <dgm:pt modelId="{5807BE56-0814-4CEE-B501-B0E8C9DD89DA}" type="pres">
      <dgm:prSet presAssocID="{4C36E89D-670F-4C99-9A37-AE75C4DE687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04715C49-12BF-4BCA-A15C-076B16B7E6BE}" type="pres">
      <dgm:prSet presAssocID="{4C36E89D-670F-4C99-9A37-AE75C4DE687D}" presName="spaceRect" presStyleCnt="0"/>
      <dgm:spPr/>
    </dgm:pt>
    <dgm:pt modelId="{952F640B-1FFA-4E2F-BF6C-29DD31B2C128}" type="pres">
      <dgm:prSet presAssocID="{4C36E89D-670F-4C99-9A37-AE75C4DE687D}" presName="parTx" presStyleLbl="revTx" presStyleIdx="0" presStyleCnt="6">
        <dgm:presLayoutVars>
          <dgm:chMax val="0"/>
          <dgm:chPref val="0"/>
        </dgm:presLayoutVars>
      </dgm:prSet>
      <dgm:spPr/>
    </dgm:pt>
    <dgm:pt modelId="{885FE4E1-FF56-4B31-AC4A-0201E6D5EC58}" type="pres">
      <dgm:prSet presAssocID="{BBEF9D74-0601-4691-A5E5-C49357B7E5FE}" presName="sibTrans" presStyleCnt="0"/>
      <dgm:spPr/>
    </dgm:pt>
    <dgm:pt modelId="{FE236DB3-F041-AA49-B2B0-E6879B65B5C9}" type="pres">
      <dgm:prSet presAssocID="{5C4DC0C8-9537-A841-8692-11B3513C1C03}" presName="compNode" presStyleCnt="0"/>
      <dgm:spPr/>
    </dgm:pt>
    <dgm:pt modelId="{DB8697BB-719A-C544-BD3F-2533F135B68A}" type="pres">
      <dgm:prSet presAssocID="{5C4DC0C8-9537-A841-8692-11B3513C1C03}" presName="bgRect" presStyleLbl="bgShp" presStyleIdx="1" presStyleCnt="6"/>
      <dgm:spPr/>
    </dgm:pt>
    <dgm:pt modelId="{275DC73B-125F-404F-BA2D-84F9C0ECE23D}" type="pres">
      <dgm:prSet presAssocID="{5C4DC0C8-9537-A841-8692-11B3513C1C03}" presName="iconRect" presStyleLbl="node1" presStyleIdx="1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63AA393F-7028-7440-AEB4-260F223C0B45}" type="pres">
      <dgm:prSet presAssocID="{5C4DC0C8-9537-A841-8692-11B3513C1C03}" presName="spaceRect" presStyleCnt="0"/>
      <dgm:spPr/>
    </dgm:pt>
    <dgm:pt modelId="{0015F1C8-3FCB-DB4D-BE99-105B3F78F18C}" type="pres">
      <dgm:prSet presAssocID="{5C4DC0C8-9537-A841-8692-11B3513C1C03}" presName="parTx" presStyleLbl="revTx" presStyleIdx="1" presStyleCnt="6">
        <dgm:presLayoutVars>
          <dgm:chMax val="0"/>
          <dgm:chPref val="0"/>
        </dgm:presLayoutVars>
      </dgm:prSet>
      <dgm:spPr/>
    </dgm:pt>
    <dgm:pt modelId="{80E32102-4993-4242-9FA2-CB4E66CF18A7}" type="pres">
      <dgm:prSet presAssocID="{16BE03A9-2417-004D-B20C-DE228270623C}" presName="sibTrans" presStyleCnt="0"/>
      <dgm:spPr/>
    </dgm:pt>
    <dgm:pt modelId="{D818CFAB-F58A-4A45-980B-6CF4DBFFB683}" type="pres">
      <dgm:prSet presAssocID="{2D17BA6B-EF5A-9349-B448-17370AC9A3E2}" presName="compNode" presStyleCnt="0"/>
      <dgm:spPr/>
    </dgm:pt>
    <dgm:pt modelId="{10B33592-4413-8745-98F2-99053C9F2892}" type="pres">
      <dgm:prSet presAssocID="{2D17BA6B-EF5A-9349-B448-17370AC9A3E2}" presName="bgRect" presStyleLbl="bgShp" presStyleIdx="2" presStyleCnt="6"/>
      <dgm:spPr/>
    </dgm:pt>
    <dgm:pt modelId="{30463989-7531-834F-8AB1-D3159DC06788}" type="pres">
      <dgm:prSet presAssocID="{2D17BA6B-EF5A-9349-B448-17370AC9A3E2}" presName="iconRect" presStyleLbl="node1" presStyleIdx="2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Banking with solid fill"/>
        </a:ext>
      </dgm:extLst>
    </dgm:pt>
    <dgm:pt modelId="{20773431-065A-0541-A730-A8E9AC4E07A5}" type="pres">
      <dgm:prSet presAssocID="{2D17BA6B-EF5A-9349-B448-17370AC9A3E2}" presName="spaceRect" presStyleCnt="0"/>
      <dgm:spPr/>
    </dgm:pt>
    <dgm:pt modelId="{139F67E8-947C-AC41-AF05-507F94B3BEC2}" type="pres">
      <dgm:prSet presAssocID="{2D17BA6B-EF5A-9349-B448-17370AC9A3E2}" presName="parTx" presStyleLbl="revTx" presStyleIdx="2" presStyleCnt="6">
        <dgm:presLayoutVars>
          <dgm:chMax val="0"/>
          <dgm:chPref val="0"/>
        </dgm:presLayoutVars>
      </dgm:prSet>
      <dgm:spPr/>
    </dgm:pt>
    <dgm:pt modelId="{B0F253D5-6C47-BE4D-B424-FB08CA027F6C}" type="pres">
      <dgm:prSet presAssocID="{CF43D3C5-CE95-8D49-9D18-4A6F14776485}" presName="sibTrans" presStyleCnt="0"/>
      <dgm:spPr/>
    </dgm:pt>
    <dgm:pt modelId="{F2232F63-9CF1-1E4C-81E9-B8C43999085F}" type="pres">
      <dgm:prSet presAssocID="{9913F942-D6AD-FA47-A995-DD1896664599}" presName="compNode" presStyleCnt="0"/>
      <dgm:spPr/>
    </dgm:pt>
    <dgm:pt modelId="{720B85AE-7C05-9349-A3FB-8891351F3A30}" type="pres">
      <dgm:prSet presAssocID="{9913F942-D6AD-FA47-A995-DD1896664599}" presName="bgRect" presStyleLbl="bgShp" presStyleIdx="3" presStyleCnt="6"/>
      <dgm:spPr/>
    </dgm:pt>
    <dgm:pt modelId="{B52E6A46-392F-7740-94B0-67DB91B69A6A}" type="pres">
      <dgm:prSet presAssocID="{9913F942-D6AD-FA47-A995-DD1896664599}" presName="iconRect" presStyleLbl="node1" presStyleIdx="3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D09805D3-6E6F-5445-BD17-2D6CBD593335}" type="pres">
      <dgm:prSet presAssocID="{9913F942-D6AD-FA47-A995-DD1896664599}" presName="spaceRect" presStyleCnt="0"/>
      <dgm:spPr/>
    </dgm:pt>
    <dgm:pt modelId="{69A152FC-0E36-BD47-9006-316E4B82FB5F}" type="pres">
      <dgm:prSet presAssocID="{9913F942-D6AD-FA47-A995-DD1896664599}" presName="parTx" presStyleLbl="revTx" presStyleIdx="3" presStyleCnt="6">
        <dgm:presLayoutVars>
          <dgm:chMax val="0"/>
          <dgm:chPref val="0"/>
        </dgm:presLayoutVars>
      </dgm:prSet>
      <dgm:spPr/>
    </dgm:pt>
    <dgm:pt modelId="{321F9DAC-EE65-DB42-A57D-70C0B34A7ED2}" type="pres">
      <dgm:prSet presAssocID="{625DD10F-FA3C-D444-9B92-A55C3E519D60}" presName="sibTrans" presStyleCnt="0"/>
      <dgm:spPr/>
    </dgm:pt>
    <dgm:pt modelId="{DD2D8EC3-8E02-4136-BF1E-825983985ECB}" type="pres">
      <dgm:prSet presAssocID="{CED6B931-D2CD-4491-9C59-583DE0A0DEE1}" presName="compNode" presStyleCnt="0"/>
      <dgm:spPr/>
    </dgm:pt>
    <dgm:pt modelId="{70B2A4DF-5333-4AFB-98B9-E6EB8A0CD6E6}" type="pres">
      <dgm:prSet presAssocID="{CED6B931-D2CD-4491-9C59-583DE0A0DEE1}" presName="bgRect" presStyleLbl="bgShp" presStyleIdx="4" presStyleCnt="6"/>
      <dgm:spPr/>
    </dgm:pt>
    <dgm:pt modelId="{E8F0FA1C-94B8-4231-84AA-CBA917E8EB1F}" type="pres">
      <dgm:prSet presAssocID="{CED6B931-D2CD-4491-9C59-583DE0A0DEE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1D1F531-5597-4B47-928B-CE080DF19954}" type="pres">
      <dgm:prSet presAssocID="{CED6B931-D2CD-4491-9C59-583DE0A0DEE1}" presName="spaceRect" presStyleCnt="0"/>
      <dgm:spPr/>
    </dgm:pt>
    <dgm:pt modelId="{18896F01-1736-4115-8239-8ACCFD9BA4F7}" type="pres">
      <dgm:prSet presAssocID="{CED6B931-D2CD-4491-9C59-583DE0A0DEE1}" presName="parTx" presStyleLbl="revTx" presStyleIdx="4" presStyleCnt="6">
        <dgm:presLayoutVars>
          <dgm:chMax val="0"/>
          <dgm:chPref val="0"/>
        </dgm:presLayoutVars>
      </dgm:prSet>
      <dgm:spPr/>
    </dgm:pt>
    <dgm:pt modelId="{ED53FF9A-7D04-3344-B445-6B8137C5FAAF}" type="pres">
      <dgm:prSet presAssocID="{BD4F4533-08FF-46CA-A748-447CB148C306}" presName="sibTrans" presStyleCnt="0"/>
      <dgm:spPr/>
    </dgm:pt>
    <dgm:pt modelId="{33B9D587-057B-434B-BF49-0AD88D018F87}" type="pres">
      <dgm:prSet presAssocID="{4FA8F26E-79D4-F448-A159-3EB0E613D6B4}" presName="compNode" presStyleCnt="0"/>
      <dgm:spPr/>
    </dgm:pt>
    <dgm:pt modelId="{43982781-4688-0B4F-B5C0-6368EF12AFC8}" type="pres">
      <dgm:prSet presAssocID="{4FA8F26E-79D4-F448-A159-3EB0E613D6B4}" presName="bgRect" presStyleLbl="bgShp" presStyleIdx="5" presStyleCnt="6" custLinFactNeighborY="-2061"/>
      <dgm:spPr/>
    </dgm:pt>
    <dgm:pt modelId="{07B8ACB0-9D1C-6140-BDF7-1C7B2E4ADA1D}" type="pres">
      <dgm:prSet presAssocID="{4FA8F26E-79D4-F448-A159-3EB0E613D6B4}" presName="iconRect" presStyleLbl="node1" presStyleIdx="5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ll Tower with solid fill"/>
        </a:ext>
      </dgm:extLst>
    </dgm:pt>
    <dgm:pt modelId="{99322328-8CC3-2643-98E1-BABA316035A8}" type="pres">
      <dgm:prSet presAssocID="{4FA8F26E-79D4-F448-A159-3EB0E613D6B4}" presName="spaceRect" presStyleCnt="0"/>
      <dgm:spPr/>
    </dgm:pt>
    <dgm:pt modelId="{327C6415-E2DB-3842-8EC3-2FFBAA1378AF}" type="pres">
      <dgm:prSet presAssocID="{4FA8F26E-79D4-F448-A159-3EB0E613D6B4}" presName="parTx" presStyleLbl="revTx" presStyleIdx="5" presStyleCnt="6" custLinFactNeighborX="-1583" custLinFactNeighborY="-8359">
        <dgm:presLayoutVars>
          <dgm:chMax val="0"/>
          <dgm:chPref val="0"/>
        </dgm:presLayoutVars>
      </dgm:prSet>
      <dgm:spPr/>
    </dgm:pt>
  </dgm:ptLst>
  <dgm:cxnLst>
    <dgm:cxn modelId="{0961BC04-CBE2-E047-993B-8324F9419EA0}" type="presOf" srcId="{9913F942-D6AD-FA47-A995-DD1896664599}" destId="{69A152FC-0E36-BD47-9006-316E4B82FB5F}" srcOrd="0" destOrd="0" presId="urn:microsoft.com/office/officeart/2018/2/layout/IconVerticalSolidList"/>
    <dgm:cxn modelId="{637BC90B-0077-4D40-9BA7-1B46264E6317}" type="presOf" srcId="{6594D791-11AF-4555-97FE-B8B746EFFCE8}" destId="{9FDD2633-7471-4753-A4B8-6153DBBD426F}" srcOrd="0" destOrd="0" presId="urn:microsoft.com/office/officeart/2018/2/layout/IconVerticalSolidList"/>
    <dgm:cxn modelId="{AAE5D411-9725-CA42-B1F2-DBC2E2D74800}" type="presOf" srcId="{4C36E89D-670F-4C99-9A37-AE75C4DE687D}" destId="{952F640B-1FFA-4E2F-BF6C-29DD31B2C128}" srcOrd="0" destOrd="0" presId="urn:microsoft.com/office/officeart/2018/2/layout/IconVerticalSolidList"/>
    <dgm:cxn modelId="{7A56A329-4F75-8E48-B77B-4B593CDF7185}" type="presOf" srcId="{4FA8F26E-79D4-F448-A159-3EB0E613D6B4}" destId="{327C6415-E2DB-3842-8EC3-2FFBAA1378AF}" srcOrd="0" destOrd="0" presId="urn:microsoft.com/office/officeart/2018/2/layout/IconVerticalSolidList"/>
    <dgm:cxn modelId="{6718F932-4345-E146-89D6-C056BBBFBE17}" srcId="{6594D791-11AF-4555-97FE-B8B746EFFCE8}" destId="{9913F942-D6AD-FA47-A995-DD1896664599}" srcOrd="3" destOrd="0" parTransId="{F3843EA4-3245-4641-8807-357335E52C08}" sibTransId="{625DD10F-FA3C-D444-9B92-A55C3E519D60}"/>
    <dgm:cxn modelId="{00801348-6220-460C-AC5F-BBFB4CC208F1}" srcId="{6594D791-11AF-4555-97FE-B8B746EFFCE8}" destId="{4C36E89D-670F-4C99-9A37-AE75C4DE687D}" srcOrd="0" destOrd="0" parTransId="{C1EFD924-55DD-4435-A573-2804D144FCE3}" sibTransId="{BBEF9D74-0601-4691-A5E5-C49357B7E5FE}"/>
    <dgm:cxn modelId="{A1ACEC59-5329-3C41-819E-787B88982DDC}" type="presOf" srcId="{CED6B931-D2CD-4491-9C59-583DE0A0DEE1}" destId="{18896F01-1736-4115-8239-8ACCFD9BA4F7}" srcOrd="0" destOrd="0" presId="urn:microsoft.com/office/officeart/2018/2/layout/IconVerticalSolidList"/>
    <dgm:cxn modelId="{259B7767-8F80-F543-9FF2-BA396FB9673F}" type="presOf" srcId="{2D17BA6B-EF5A-9349-B448-17370AC9A3E2}" destId="{139F67E8-947C-AC41-AF05-507F94B3BEC2}" srcOrd="0" destOrd="0" presId="urn:microsoft.com/office/officeart/2018/2/layout/IconVerticalSolidList"/>
    <dgm:cxn modelId="{FF582E85-5E8F-BD4C-9690-9AD08E2C7C8A}" srcId="{6594D791-11AF-4555-97FE-B8B746EFFCE8}" destId="{4FA8F26E-79D4-F448-A159-3EB0E613D6B4}" srcOrd="5" destOrd="0" parTransId="{711F5998-8BBA-3045-9832-9144BFBF4DEE}" sibTransId="{C693521E-302A-5F45-8EC8-24EFFEB8FD5C}"/>
    <dgm:cxn modelId="{C73D9EC2-ED31-EE4E-A4B7-1573DF9B22CC}" type="presOf" srcId="{5C4DC0C8-9537-A841-8692-11B3513C1C03}" destId="{0015F1C8-3FCB-DB4D-BE99-105B3F78F18C}" srcOrd="0" destOrd="0" presId="urn:microsoft.com/office/officeart/2018/2/layout/IconVerticalSolidList"/>
    <dgm:cxn modelId="{D97874C4-4F53-B440-9BBB-64196694D2BE}" srcId="{6594D791-11AF-4555-97FE-B8B746EFFCE8}" destId="{2D17BA6B-EF5A-9349-B448-17370AC9A3E2}" srcOrd="2" destOrd="0" parTransId="{29E53CF5-CB0F-AD46-B52A-8BD63132CA9A}" sibTransId="{CF43D3C5-CE95-8D49-9D18-4A6F14776485}"/>
    <dgm:cxn modelId="{FBB328CB-99F4-48CC-A102-0919805B16A7}" srcId="{6594D791-11AF-4555-97FE-B8B746EFFCE8}" destId="{CED6B931-D2CD-4491-9C59-583DE0A0DEE1}" srcOrd="4" destOrd="0" parTransId="{A50F8EAB-86F5-4DC1-9A94-7E5925D757ED}" sibTransId="{BD4F4533-08FF-46CA-A748-447CB148C306}"/>
    <dgm:cxn modelId="{1C7213D9-2DC6-FE4C-905D-841889BAE06D}" srcId="{6594D791-11AF-4555-97FE-B8B746EFFCE8}" destId="{5C4DC0C8-9537-A841-8692-11B3513C1C03}" srcOrd="1" destOrd="0" parTransId="{C0F397BC-74F6-DE45-9E5D-E3EF9F82E5E7}" sibTransId="{16BE03A9-2417-004D-B20C-DE228270623C}"/>
    <dgm:cxn modelId="{09995DF9-AB97-A842-82E2-4CF695B20C3F}" type="presParOf" srcId="{9FDD2633-7471-4753-A4B8-6153DBBD426F}" destId="{794DD177-1E45-4610-BB55-8ED0928010F5}" srcOrd="0" destOrd="0" presId="urn:microsoft.com/office/officeart/2018/2/layout/IconVerticalSolidList"/>
    <dgm:cxn modelId="{AE591F48-2B2B-4444-A9D1-D733D241722F}" type="presParOf" srcId="{794DD177-1E45-4610-BB55-8ED0928010F5}" destId="{CE49B7C8-9C5A-4485-BAA4-7BBCAF726A70}" srcOrd="0" destOrd="0" presId="urn:microsoft.com/office/officeart/2018/2/layout/IconVerticalSolidList"/>
    <dgm:cxn modelId="{5AB861D9-9390-5B41-9C50-FA75B0EEA3C7}" type="presParOf" srcId="{794DD177-1E45-4610-BB55-8ED0928010F5}" destId="{5807BE56-0814-4CEE-B501-B0E8C9DD89DA}" srcOrd="1" destOrd="0" presId="urn:microsoft.com/office/officeart/2018/2/layout/IconVerticalSolidList"/>
    <dgm:cxn modelId="{41EA7A4A-D61F-1243-803D-7273A23E015A}" type="presParOf" srcId="{794DD177-1E45-4610-BB55-8ED0928010F5}" destId="{04715C49-12BF-4BCA-A15C-076B16B7E6BE}" srcOrd="2" destOrd="0" presId="urn:microsoft.com/office/officeart/2018/2/layout/IconVerticalSolidList"/>
    <dgm:cxn modelId="{72FCF621-867E-7842-8C8E-2E0B1113841B}" type="presParOf" srcId="{794DD177-1E45-4610-BB55-8ED0928010F5}" destId="{952F640B-1FFA-4E2F-BF6C-29DD31B2C128}" srcOrd="3" destOrd="0" presId="urn:microsoft.com/office/officeart/2018/2/layout/IconVerticalSolidList"/>
    <dgm:cxn modelId="{FB4FFBFC-9EEA-924D-8D81-D3DA3A4CE81E}" type="presParOf" srcId="{9FDD2633-7471-4753-A4B8-6153DBBD426F}" destId="{885FE4E1-FF56-4B31-AC4A-0201E6D5EC58}" srcOrd="1" destOrd="0" presId="urn:microsoft.com/office/officeart/2018/2/layout/IconVerticalSolidList"/>
    <dgm:cxn modelId="{F4ED4A5F-8CB3-B649-9633-C0DCDB3DD070}" type="presParOf" srcId="{9FDD2633-7471-4753-A4B8-6153DBBD426F}" destId="{FE236DB3-F041-AA49-B2B0-E6879B65B5C9}" srcOrd="2" destOrd="0" presId="urn:microsoft.com/office/officeart/2018/2/layout/IconVerticalSolidList"/>
    <dgm:cxn modelId="{E61FE8DA-53BD-3349-910E-C3E01077963B}" type="presParOf" srcId="{FE236DB3-F041-AA49-B2B0-E6879B65B5C9}" destId="{DB8697BB-719A-C544-BD3F-2533F135B68A}" srcOrd="0" destOrd="0" presId="urn:microsoft.com/office/officeart/2018/2/layout/IconVerticalSolidList"/>
    <dgm:cxn modelId="{C625E036-4144-4342-9DA8-9D6C3116D2A4}" type="presParOf" srcId="{FE236DB3-F041-AA49-B2B0-E6879B65B5C9}" destId="{275DC73B-125F-404F-BA2D-84F9C0ECE23D}" srcOrd="1" destOrd="0" presId="urn:microsoft.com/office/officeart/2018/2/layout/IconVerticalSolidList"/>
    <dgm:cxn modelId="{C5C69516-CBDA-AC44-838B-84CD11342587}" type="presParOf" srcId="{FE236DB3-F041-AA49-B2B0-E6879B65B5C9}" destId="{63AA393F-7028-7440-AEB4-260F223C0B45}" srcOrd="2" destOrd="0" presId="urn:microsoft.com/office/officeart/2018/2/layout/IconVerticalSolidList"/>
    <dgm:cxn modelId="{8AD8E5F7-AF41-6A43-9343-1E2396BFD416}" type="presParOf" srcId="{FE236DB3-F041-AA49-B2B0-E6879B65B5C9}" destId="{0015F1C8-3FCB-DB4D-BE99-105B3F78F18C}" srcOrd="3" destOrd="0" presId="urn:microsoft.com/office/officeart/2018/2/layout/IconVerticalSolidList"/>
    <dgm:cxn modelId="{85BA5378-6A72-744C-AF2E-319C4ED1FF76}" type="presParOf" srcId="{9FDD2633-7471-4753-A4B8-6153DBBD426F}" destId="{80E32102-4993-4242-9FA2-CB4E66CF18A7}" srcOrd="3" destOrd="0" presId="urn:microsoft.com/office/officeart/2018/2/layout/IconVerticalSolidList"/>
    <dgm:cxn modelId="{A0CD15A4-A6FF-6945-BEF4-0707433FDC25}" type="presParOf" srcId="{9FDD2633-7471-4753-A4B8-6153DBBD426F}" destId="{D818CFAB-F58A-4A45-980B-6CF4DBFFB683}" srcOrd="4" destOrd="0" presId="urn:microsoft.com/office/officeart/2018/2/layout/IconVerticalSolidList"/>
    <dgm:cxn modelId="{2259BAF4-4C83-234C-B3A4-58F8B3E0359E}" type="presParOf" srcId="{D818CFAB-F58A-4A45-980B-6CF4DBFFB683}" destId="{10B33592-4413-8745-98F2-99053C9F2892}" srcOrd="0" destOrd="0" presId="urn:microsoft.com/office/officeart/2018/2/layout/IconVerticalSolidList"/>
    <dgm:cxn modelId="{DE256D11-5F27-9F4D-B4BE-98797B761E38}" type="presParOf" srcId="{D818CFAB-F58A-4A45-980B-6CF4DBFFB683}" destId="{30463989-7531-834F-8AB1-D3159DC06788}" srcOrd="1" destOrd="0" presId="urn:microsoft.com/office/officeart/2018/2/layout/IconVerticalSolidList"/>
    <dgm:cxn modelId="{EDA4D505-4778-C343-8435-6A6A79CBC65F}" type="presParOf" srcId="{D818CFAB-F58A-4A45-980B-6CF4DBFFB683}" destId="{20773431-065A-0541-A730-A8E9AC4E07A5}" srcOrd="2" destOrd="0" presId="urn:microsoft.com/office/officeart/2018/2/layout/IconVerticalSolidList"/>
    <dgm:cxn modelId="{E8558E2D-A0B1-B547-BFC0-BE33B072620E}" type="presParOf" srcId="{D818CFAB-F58A-4A45-980B-6CF4DBFFB683}" destId="{139F67E8-947C-AC41-AF05-507F94B3BEC2}" srcOrd="3" destOrd="0" presId="urn:microsoft.com/office/officeart/2018/2/layout/IconVerticalSolidList"/>
    <dgm:cxn modelId="{3F6E8C4E-5FB5-BB4D-9DFB-4357F623CFCA}" type="presParOf" srcId="{9FDD2633-7471-4753-A4B8-6153DBBD426F}" destId="{B0F253D5-6C47-BE4D-B424-FB08CA027F6C}" srcOrd="5" destOrd="0" presId="urn:microsoft.com/office/officeart/2018/2/layout/IconVerticalSolidList"/>
    <dgm:cxn modelId="{6EC47EC7-2D94-7844-A9C8-AF08E951EDE1}" type="presParOf" srcId="{9FDD2633-7471-4753-A4B8-6153DBBD426F}" destId="{F2232F63-9CF1-1E4C-81E9-B8C43999085F}" srcOrd="6" destOrd="0" presId="urn:microsoft.com/office/officeart/2018/2/layout/IconVerticalSolidList"/>
    <dgm:cxn modelId="{BE0F244C-0F47-4445-A24F-FC5F0E9E9DFC}" type="presParOf" srcId="{F2232F63-9CF1-1E4C-81E9-B8C43999085F}" destId="{720B85AE-7C05-9349-A3FB-8891351F3A30}" srcOrd="0" destOrd="0" presId="urn:microsoft.com/office/officeart/2018/2/layout/IconVerticalSolidList"/>
    <dgm:cxn modelId="{0F37BDD6-DAD6-6C4D-A048-C109E13FA3D1}" type="presParOf" srcId="{F2232F63-9CF1-1E4C-81E9-B8C43999085F}" destId="{B52E6A46-392F-7740-94B0-67DB91B69A6A}" srcOrd="1" destOrd="0" presId="urn:microsoft.com/office/officeart/2018/2/layout/IconVerticalSolidList"/>
    <dgm:cxn modelId="{98EFB378-547B-1042-89C5-32B749B7CDAE}" type="presParOf" srcId="{F2232F63-9CF1-1E4C-81E9-B8C43999085F}" destId="{D09805D3-6E6F-5445-BD17-2D6CBD593335}" srcOrd="2" destOrd="0" presId="urn:microsoft.com/office/officeart/2018/2/layout/IconVerticalSolidList"/>
    <dgm:cxn modelId="{F2D23046-8EB4-7547-865F-789F4AECCB17}" type="presParOf" srcId="{F2232F63-9CF1-1E4C-81E9-B8C43999085F}" destId="{69A152FC-0E36-BD47-9006-316E4B82FB5F}" srcOrd="3" destOrd="0" presId="urn:microsoft.com/office/officeart/2018/2/layout/IconVerticalSolidList"/>
    <dgm:cxn modelId="{5A35A6FD-E005-494A-9012-0F5ACE090E46}" type="presParOf" srcId="{9FDD2633-7471-4753-A4B8-6153DBBD426F}" destId="{321F9DAC-EE65-DB42-A57D-70C0B34A7ED2}" srcOrd="7" destOrd="0" presId="urn:microsoft.com/office/officeart/2018/2/layout/IconVerticalSolidList"/>
    <dgm:cxn modelId="{60A8C2C0-3839-C048-A4BA-978E41A32803}" type="presParOf" srcId="{9FDD2633-7471-4753-A4B8-6153DBBD426F}" destId="{DD2D8EC3-8E02-4136-BF1E-825983985ECB}" srcOrd="8" destOrd="0" presId="urn:microsoft.com/office/officeart/2018/2/layout/IconVerticalSolidList"/>
    <dgm:cxn modelId="{54E64017-DD1A-5244-8831-A619E2C2205C}" type="presParOf" srcId="{DD2D8EC3-8E02-4136-BF1E-825983985ECB}" destId="{70B2A4DF-5333-4AFB-98B9-E6EB8A0CD6E6}" srcOrd="0" destOrd="0" presId="urn:microsoft.com/office/officeart/2018/2/layout/IconVerticalSolidList"/>
    <dgm:cxn modelId="{50C27E8D-7AE4-B940-9865-6F655CD79FAE}" type="presParOf" srcId="{DD2D8EC3-8E02-4136-BF1E-825983985ECB}" destId="{E8F0FA1C-94B8-4231-84AA-CBA917E8EB1F}" srcOrd="1" destOrd="0" presId="urn:microsoft.com/office/officeart/2018/2/layout/IconVerticalSolidList"/>
    <dgm:cxn modelId="{B5BC61DF-81D5-3740-B039-CDAA950F9F26}" type="presParOf" srcId="{DD2D8EC3-8E02-4136-BF1E-825983985ECB}" destId="{61D1F531-5597-4B47-928B-CE080DF19954}" srcOrd="2" destOrd="0" presId="urn:microsoft.com/office/officeart/2018/2/layout/IconVerticalSolidList"/>
    <dgm:cxn modelId="{450210E9-DD9E-124C-9F51-02BA05767209}" type="presParOf" srcId="{DD2D8EC3-8E02-4136-BF1E-825983985ECB}" destId="{18896F01-1736-4115-8239-8ACCFD9BA4F7}" srcOrd="3" destOrd="0" presId="urn:microsoft.com/office/officeart/2018/2/layout/IconVerticalSolidList"/>
    <dgm:cxn modelId="{B3717DDB-E838-DD41-AF05-9E97D446CA56}" type="presParOf" srcId="{9FDD2633-7471-4753-A4B8-6153DBBD426F}" destId="{ED53FF9A-7D04-3344-B445-6B8137C5FAAF}" srcOrd="9" destOrd="0" presId="urn:microsoft.com/office/officeart/2018/2/layout/IconVerticalSolidList"/>
    <dgm:cxn modelId="{669DAAAB-39E1-804F-BA14-BDB857FC02B3}" type="presParOf" srcId="{9FDD2633-7471-4753-A4B8-6153DBBD426F}" destId="{33B9D587-057B-434B-BF49-0AD88D018F87}" srcOrd="10" destOrd="0" presId="urn:microsoft.com/office/officeart/2018/2/layout/IconVerticalSolidList"/>
    <dgm:cxn modelId="{CA53C40D-DA4D-8C43-B019-67BD25FA340D}" type="presParOf" srcId="{33B9D587-057B-434B-BF49-0AD88D018F87}" destId="{43982781-4688-0B4F-B5C0-6368EF12AFC8}" srcOrd="0" destOrd="0" presId="urn:microsoft.com/office/officeart/2018/2/layout/IconVerticalSolidList"/>
    <dgm:cxn modelId="{D3B41D66-7E73-1D40-BC7E-A8B1CDEB262F}" type="presParOf" srcId="{33B9D587-057B-434B-BF49-0AD88D018F87}" destId="{07B8ACB0-9D1C-6140-BDF7-1C7B2E4ADA1D}" srcOrd="1" destOrd="0" presId="urn:microsoft.com/office/officeart/2018/2/layout/IconVerticalSolidList"/>
    <dgm:cxn modelId="{95CC7208-7C35-3B4A-9641-CD6CF8A53CF8}" type="presParOf" srcId="{33B9D587-057B-434B-BF49-0AD88D018F87}" destId="{99322328-8CC3-2643-98E1-BABA316035A8}" srcOrd="2" destOrd="0" presId="urn:microsoft.com/office/officeart/2018/2/layout/IconVerticalSolidList"/>
    <dgm:cxn modelId="{51DFBF3C-4B12-E147-B0F1-4B09D6554892}" type="presParOf" srcId="{33B9D587-057B-434B-BF49-0AD88D018F87}" destId="{327C6415-E2DB-3842-8EC3-2FFBAA1378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49B7C8-9C5A-4485-BAA4-7BBCAF726A70}">
      <dsp:nvSpPr>
        <dsp:cNvPr id="0" name=""/>
        <dsp:cNvSpPr/>
      </dsp:nvSpPr>
      <dsp:spPr>
        <a:xfrm>
          <a:off x="0" y="5226"/>
          <a:ext cx="5142578" cy="8110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7BE56-0814-4CEE-B501-B0E8C9DD89DA}">
      <dsp:nvSpPr>
        <dsp:cNvPr id="0" name=""/>
        <dsp:cNvSpPr/>
      </dsp:nvSpPr>
      <dsp:spPr>
        <a:xfrm>
          <a:off x="245328" y="187702"/>
          <a:ext cx="446487" cy="4460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F640B-1FFA-4E2F-BF6C-29DD31B2C128}">
      <dsp:nvSpPr>
        <dsp:cNvPr id="0" name=""/>
        <dsp:cNvSpPr/>
      </dsp:nvSpPr>
      <dsp:spPr>
        <a:xfrm>
          <a:off x="937144" y="5226"/>
          <a:ext cx="4163096" cy="88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78" tIns="93878" rIns="93878" bIns="9387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Scaled engineering teams from 8 → 20 across 3 countries; ran 34 sprints and 3 PI Plannings (EFX). Lead product roadmap and governance partnering with Stakeholders and supporting organizations: Architecture Team, InfoSec, Engineering.</a:t>
          </a:r>
        </a:p>
      </dsp:txBody>
      <dsp:txXfrm>
        <a:off x="937144" y="5226"/>
        <a:ext cx="4163096" cy="887034"/>
      </dsp:txXfrm>
    </dsp:sp>
    <dsp:sp modelId="{DB8697BB-719A-C544-BD3F-2533F135B68A}">
      <dsp:nvSpPr>
        <dsp:cNvPr id="0" name=""/>
        <dsp:cNvSpPr/>
      </dsp:nvSpPr>
      <dsp:spPr>
        <a:xfrm>
          <a:off x="0" y="1114019"/>
          <a:ext cx="5142578" cy="8110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DC73B-125F-404F-BA2D-84F9C0ECE23D}">
      <dsp:nvSpPr>
        <dsp:cNvPr id="0" name=""/>
        <dsp:cNvSpPr/>
      </dsp:nvSpPr>
      <dsp:spPr>
        <a:xfrm>
          <a:off x="245328" y="1296495"/>
          <a:ext cx="446487" cy="4460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5F1C8-3FCB-DB4D-BE99-105B3F78F18C}">
      <dsp:nvSpPr>
        <dsp:cNvPr id="0" name=""/>
        <dsp:cNvSpPr/>
      </dsp:nvSpPr>
      <dsp:spPr>
        <a:xfrm>
          <a:off x="937144" y="1114019"/>
          <a:ext cx="4163096" cy="88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78" tIns="93878" rIns="93878" bIns="9387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FISERV: Provided solution </a:t>
          </a:r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architecture</a:t>
          </a:r>
          <a:r>
            <a:rPr lang="en-US" sz="1200" kern="1200" dirty="0"/>
            <a:t> and design to event processing requirements for a real time payment network, produced integrating with </a:t>
          </a:r>
          <a:r>
            <a:rPr lang="en-US" sz="1200" kern="1200" dirty="0" err="1"/>
            <a:t>OpenBanking</a:t>
          </a:r>
          <a:r>
            <a:rPr lang="en-US" sz="1200" kern="1200" dirty="0"/>
            <a:t> Customer APIs.</a:t>
          </a:r>
        </a:p>
      </dsp:txBody>
      <dsp:txXfrm>
        <a:off x="937144" y="1114019"/>
        <a:ext cx="4163096" cy="887034"/>
      </dsp:txXfrm>
    </dsp:sp>
    <dsp:sp modelId="{10B33592-4413-8745-98F2-99053C9F2892}">
      <dsp:nvSpPr>
        <dsp:cNvPr id="0" name=""/>
        <dsp:cNvSpPr/>
      </dsp:nvSpPr>
      <dsp:spPr>
        <a:xfrm>
          <a:off x="0" y="2222812"/>
          <a:ext cx="5142578" cy="8110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63989-7531-834F-8AB1-D3159DC06788}">
      <dsp:nvSpPr>
        <dsp:cNvPr id="0" name=""/>
        <dsp:cNvSpPr/>
      </dsp:nvSpPr>
      <dsp:spPr>
        <a:xfrm>
          <a:off x="245328" y="2405287"/>
          <a:ext cx="446487" cy="4460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F67E8-947C-AC41-AF05-507F94B3BEC2}">
      <dsp:nvSpPr>
        <dsp:cNvPr id="0" name=""/>
        <dsp:cNvSpPr/>
      </dsp:nvSpPr>
      <dsp:spPr>
        <a:xfrm>
          <a:off x="937144" y="2222812"/>
          <a:ext cx="4163096" cy="88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78" tIns="93878" rIns="93878" bIns="9387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5th3rd bank: Technical leader, designed &amp; implemented integration and service layer to support personal Banking Mobile Wallet of </a:t>
          </a:r>
          <a:r>
            <a:rPr lang="en-US" sz="1200" b="0" i="0" kern="1200" dirty="0"/>
            <a:t>2.4 million monthly mobile banking users. (AWS + Microservices + Event Streaming)</a:t>
          </a:r>
          <a:endParaRPr lang="en-US" sz="1200" kern="1200" dirty="0"/>
        </a:p>
      </dsp:txBody>
      <dsp:txXfrm>
        <a:off x="937144" y="2222812"/>
        <a:ext cx="4163096" cy="887034"/>
      </dsp:txXfrm>
    </dsp:sp>
    <dsp:sp modelId="{720B85AE-7C05-9349-A3FB-8891351F3A30}">
      <dsp:nvSpPr>
        <dsp:cNvPr id="0" name=""/>
        <dsp:cNvSpPr/>
      </dsp:nvSpPr>
      <dsp:spPr>
        <a:xfrm>
          <a:off x="0" y="3331604"/>
          <a:ext cx="5142578" cy="8110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2E6A46-392F-7740-94B0-67DB91B69A6A}">
      <dsp:nvSpPr>
        <dsp:cNvPr id="0" name=""/>
        <dsp:cNvSpPr/>
      </dsp:nvSpPr>
      <dsp:spPr>
        <a:xfrm>
          <a:off x="245328" y="3514080"/>
          <a:ext cx="446487" cy="4460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152FC-0E36-BD47-9006-316E4B82FB5F}">
      <dsp:nvSpPr>
        <dsp:cNvPr id="0" name=""/>
        <dsp:cNvSpPr/>
      </dsp:nvSpPr>
      <dsp:spPr>
        <a:xfrm>
          <a:off x="937144" y="3331604"/>
          <a:ext cx="4163096" cy="88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78" tIns="93878" rIns="93878" bIns="9387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Built a RAG engine (LangChain, Python, React, Azure OpenAI, Zilliz) for Leasing Contract Management productivity. Produced a serverless version for AWS (Bedrock, Lambda, Amazon OpenSearch, S3)</a:t>
          </a:r>
        </a:p>
      </dsp:txBody>
      <dsp:txXfrm>
        <a:off x="937144" y="3331604"/>
        <a:ext cx="4163096" cy="887034"/>
      </dsp:txXfrm>
    </dsp:sp>
    <dsp:sp modelId="{70B2A4DF-5333-4AFB-98B9-E6EB8A0CD6E6}">
      <dsp:nvSpPr>
        <dsp:cNvPr id="0" name=""/>
        <dsp:cNvSpPr/>
      </dsp:nvSpPr>
      <dsp:spPr>
        <a:xfrm>
          <a:off x="0" y="4440397"/>
          <a:ext cx="5142578" cy="8110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0FA1C-94B8-4231-84AA-CBA917E8EB1F}">
      <dsp:nvSpPr>
        <dsp:cNvPr id="0" name=""/>
        <dsp:cNvSpPr/>
      </dsp:nvSpPr>
      <dsp:spPr>
        <a:xfrm>
          <a:off x="245328" y="4622872"/>
          <a:ext cx="446487" cy="4460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96F01-1736-4115-8239-8ACCFD9BA4F7}">
      <dsp:nvSpPr>
        <dsp:cNvPr id="0" name=""/>
        <dsp:cNvSpPr/>
      </dsp:nvSpPr>
      <dsp:spPr>
        <a:xfrm>
          <a:off x="937144" y="4440397"/>
          <a:ext cx="4163096" cy="88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78" tIns="93878" rIns="93878" bIns="9387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Implemented API </a:t>
          </a:r>
          <a:r>
            <a:rPr lang="en-US" sz="1200" kern="1200" dirty="0" err="1"/>
            <a:t>mgmt</a:t>
          </a:r>
          <a:r>
            <a:rPr lang="en-US" sz="1200" kern="1200" dirty="0"/>
            <a:t> and produced security guardrails for microservices controlling surgical devices (K8s, Istio, Apigee, Spring Boot, Kafka).</a:t>
          </a:r>
        </a:p>
      </dsp:txBody>
      <dsp:txXfrm>
        <a:off x="937144" y="4440397"/>
        <a:ext cx="4163096" cy="887034"/>
      </dsp:txXfrm>
    </dsp:sp>
    <dsp:sp modelId="{43982781-4688-0B4F-B5C0-6368EF12AFC8}">
      <dsp:nvSpPr>
        <dsp:cNvPr id="0" name=""/>
        <dsp:cNvSpPr/>
      </dsp:nvSpPr>
      <dsp:spPr>
        <a:xfrm>
          <a:off x="0" y="5532475"/>
          <a:ext cx="5142578" cy="8110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8ACB0-9D1C-6140-BDF7-1C7B2E4ADA1D}">
      <dsp:nvSpPr>
        <dsp:cNvPr id="0" name=""/>
        <dsp:cNvSpPr/>
      </dsp:nvSpPr>
      <dsp:spPr>
        <a:xfrm>
          <a:off x="245328" y="5731665"/>
          <a:ext cx="446487" cy="44605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C6415-E2DB-3842-8EC3-2FFBAA1378AF}">
      <dsp:nvSpPr>
        <dsp:cNvPr id="0" name=""/>
        <dsp:cNvSpPr/>
      </dsp:nvSpPr>
      <dsp:spPr>
        <a:xfrm>
          <a:off x="871242" y="5475042"/>
          <a:ext cx="4163096" cy="887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78" tIns="93878" rIns="93878" bIns="93878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Modernized, re-built and standardized the middleware and portal that handled the Mobile Wireless service provisioning at the largest MVNO in the USA, scaling from $6M Subscriber to $19M and eight (8) different brands.</a:t>
          </a:r>
        </a:p>
      </dsp:txBody>
      <dsp:txXfrm>
        <a:off x="871242" y="5475042"/>
        <a:ext cx="4163096" cy="887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7358-8644-D44E-9FEA-E25C6A7D9DA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F6C5E-A3E1-5340-94E1-DF4C0A4D3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60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F6C5E-A3E1-5340-94E1-DF4C0A4D38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5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83940-4D19-2E7C-CD2C-FAE080C3F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0034" r="10034"/>
          <a:stretch/>
        </p:blipFill>
        <p:spPr>
          <a:xfrm>
            <a:off x="3662266" y="10"/>
            <a:ext cx="5481734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142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178" y="856488"/>
            <a:ext cx="3744468" cy="12435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3600" b="1">
                <a:solidFill>
                  <a:srgbClr val="56B5A3"/>
                </a:solidFill>
              </a:defRPr>
            </a:pPr>
            <a:r>
              <a:rPr lang="en-US" sz="2800" dirty="0"/>
              <a:t>Humberto “</a:t>
            </a:r>
            <a:r>
              <a:rPr lang="en-US" sz="2800" i="1" dirty="0"/>
              <a:t>Bert</a:t>
            </a:r>
            <a:r>
              <a:rPr lang="en-US" sz="2800" dirty="0"/>
              <a:t>” Bello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326" y="2195336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" y="2070473"/>
            <a:ext cx="4018448" cy="4495281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F0F0F0"/>
                </a:solidFill>
              </a:defRPr>
            </a:pPr>
            <a:endParaRPr lang="en-US" sz="1700" dirty="0"/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r>
              <a:rPr lang="en-US" sz="1800" dirty="0"/>
              <a:t>20+ years of Architecture and Engineering practice delivering customer-facing digital experiences, integration, security and enterprise scale modernization.</a:t>
            </a:r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endParaRPr lang="en-US" sz="1800" dirty="0"/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r>
              <a:rPr lang="en-US" sz="1800" dirty="0"/>
              <a:t>15+ years leading global engineering teams in agile environments with end-to-end delivery accountability. </a:t>
            </a:r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endParaRPr lang="en-US" sz="1800" dirty="0"/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r>
              <a:rPr lang="en-US" sz="1800" dirty="0"/>
              <a:t>GDPR, HIPAA, SOX, SOC, </a:t>
            </a:r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endParaRPr lang="en-US" sz="1800" dirty="0"/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r>
              <a:rPr lang="en-US" sz="1800" dirty="0"/>
              <a:t>Hands-on experience in Gen AI and Agentic patterns, event-driven architectures, legacy platform  modernization , cloud-native engineering (AWS, GCP, Azure), security and UI/UX  standards.</a:t>
            </a:r>
          </a:p>
          <a:p>
            <a:pPr>
              <a:lnSpc>
                <a:spcPct val="90000"/>
              </a:lnSpc>
              <a:defRPr sz="1800">
                <a:solidFill>
                  <a:srgbClr val="F0F0F0"/>
                </a:solidFill>
              </a:defRPr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Char char="ü"/>
              <a:defRPr sz="1800">
                <a:solidFill>
                  <a:srgbClr val="F0F0F0"/>
                </a:solidFill>
              </a:defRPr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Authorized for work in the United States without sponsorship. (US Citizen)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17B2C-2A6C-F5B8-BCF3-2990414A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B8E369-7B59-8A6C-2830-F15BA4377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F02E72C5-2FF9-9B1F-0071-745236D83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14A05B0C-CAD1-7957-512D-C6593A8E7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AA705-E912-C585-863A-8D0D4658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2528023"/>
            <a:ext cx="3017520" cy="17984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56B5A3"/>
                </a:solidFill>
              </a:defRPr>
            </a:pPr>
            <a:r>
              <a:rPr lang="en-US" sz="3200" b="1" dirty="0">
                <a:solidFill>
                  <a:srgbClr val="56B5A3"/>
                </a:solidFill>
              </a:rPr>
              <a:t>Professional Skills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CB1F8D-6098-FDF9-BF19-E63BD7A85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113CC1-DEE1-1BE7-2D9B-0E879F707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1B070-C05B-F621-F68B-C12C7206C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554" y="1223171"/>
            <a:ext cx="4408177" cy="44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5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2528023"/>
            <a:ext cx="3017520" cy="17984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56B5A3"/>
                </a:solidFill>
              </a:defRPr>
            </a:pPr>
            <a:r>
              <a:rPr lang="en-US" sz="3200" b="1" dirty="0">
                <a:solidFill>
                  <a:srgbClr val="56B5A3"/>
                </a:solidFill>
              </a:rPr>
              <a:t>Selected Experience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6E4E0A0-9725-71A3-7FB1-A457A867FA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184116"/>
              </p:ext>
            </p:extLst>
          </p:nvPr>
        </p:nvGraphicFramePr>
        <p:xfrm>
          <a:off x="3860353" y="206534"/>
          <a:ext cx="5142578" cy="6441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8D805-7A5A-4495-1A3C-B6D0558FB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508EFB9-F05E-4273-BC24-CC9D0ECB4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D96DB938-573C-01D9-97D2-CFB7229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16486B84-76A7-F268-7B30-C0CE606F3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8977A-9260-5F81-A6B5-665AC941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2528023"/>
            <a:ext cx="3017520" cy="17984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56B5A3"/>
                </a:solidFill>
              </a:defRPr>
            </a:pPr>
            <a:r>
              <a:rPr lang="en-US" sz="3200" b="1" dirty="0">
                <a:solidFill>
                  <a:srgbClr val="56B5A3"/>
                </a:solidFill>
              </a:rPr>
              <a:t>Selected clients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dirty="0">
                <a:solidFill>
                  <a:srgbClr val="56B5A3"/>
                </a:solidFill>
              </a:rPr>
              <a:t>&amp; Employers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B5AA2F-40A1-513C-63BD-104FC0B80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E62FE3-3347-7C82-EE69-2D21076E4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8F2729A9-B97D-60AA-5FF1-302B2D4D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53" y="2130358"/>
            <a:ext cx="5184844" cy="2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27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24536</TotalTime>
  <Words>306</Words>
  <Application>Microsoft Macintosh PowerPoint</Application>
  <PresentationFormat>On-screen Show (4:3)</PresentationFormat>
  <Paragraphs>21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Wingdings</vt:lpstr>
      <vt:lpstr>Office Theme</vt:lpstr>
      <vt:lpstr>Humberto “Bert” Bello</vt:lpstr>
      <vt:lpstr>Professional Skills</vt:lpstr>
      <vt:lpstr>Selected Experience</vt:lpstr>
      <vt:lpstr>Selected clients &amp; Employers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Humberto “Bert” Bello</dc:title>
  <dc:subject/>
  <dc:creator/>
  <cp:keywords/>
  <dc:description>generated using python-pptx</dc:description>
  <cp:lastModifiedBy>Humberto Bello</cp:lastModifiedBy>
  <cp:revision>8</cp:revision>
  <dcterms:created xsi:type="dcterms:W3CDTF">2013-01-27T09:14:16Z</dcterms:created>
  <dcterms:modified xsi:type="dcterms:W3CDTF">2026-04-17T19:14:41Z</dcterms:modified>
  <cp:category/>
</cp:coreProperties>
</file>